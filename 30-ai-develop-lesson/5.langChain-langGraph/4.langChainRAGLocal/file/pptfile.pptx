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316" r:id="rId3"/>
    <p:sldId id="324" r:id="rId4"/>
    <p:sldId id="323" r:id="rId5"/>
    <p:sldId id="327" r:id="rId6"/>
    <p:sldId id="32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2" clrIdx="0">
    <p:extLst>
      <p:ext uri="{19B8F6BF-5375-455C-9EA6-DF929625EA0E}">
        <p15:presenceInfo xmlns:p15="http://schemas.microsoft.com/office/powerpoint/2012/main" userId="Administrato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DBF7"/>
    <a:srgbClr val="2B2B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CF0B0-5A9B-469E-A034-DE97A905742C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C35C40-5B42-440F-BB7E-07CDDE025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254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5C40-5B42-440F-BB7E-07CDDE025CA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566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5994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 userDrawn="1"/>
        </p:nvSpPr>
        <p:spPr>
          <a:xfrm>
            <a:off x="8924925" y="6257925"/>
            <a:ext cx="37623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effectLst/>
                <a:latin typeface="Adobe 仿宋 Std R" panose="02020400000000000000" pitchFamily="18" charset="-122"/>
                <a:ea typeface="Adobe 仿宋 Std R" panose="02020400000000000000" pitchFamily="18" charset="-122"/>
              </a:rPr>
              <a:t>让学习更有效率</a:t>
            </a:r>
            <a:endParaRPr lang="en-US" altLang="zh-CN" sz="1400" dirty="0">
              <a:effectLst/>
              <a:latin typeface="Adobe 仿宋 Std R" panose="02020400000000000000" pitchFamily="18" charset="-122"/>
              <a:ea typeface="Adobe 仿宋 Std R" panose="020204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3936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70962908-B897-4E2E-A175-85C5ACA48282}"/>
              </a:ext>
            </a:extLst>
          </p:cNvPr>
          <p:cNvSpPr txBox="1"/>
          <p:nvPr/>
        </p:nvSpPr>
        <p:spPr>
          <a:xfrm>
            <a:off x="1276350" y="2253271"/>
            <a:ext cx="96393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>
                <a:solidFill>
                  <a:schemeClr val="accent1"/>
                </a:solidFill>
                <a:ea typeface="思源黑体 CN Light" panose="020B0300000000000000" pitchFamily="34" charset="-122"/>
              </a:rPr>
              <a:t>本地文档</a:t>
            </a:r>
            <a:r>
              <a:rPr lang="en-US" altLang="zh-CN" sz="6600" b="1" dirty="0">
                <a:solidFill>
                  <a:schemeClr val="accent1"/>
                </a:solidFill>
                <a:ea typeface="思源黑体 CN Light" panose="020B0300000000000000" pitchFamily="34" charset="-122"/>
              </a:rPr>
              <a:t>RAG </a:t>
            </a:r>
            <a:endParaRPr lang="zh-CN" altLang="en-US" sz="6600" b="1" dirty="0">
              <a:solidFill>
                <a:schemeClr val="accent2"/>
              </a:solidFill>
              <a:ea typeface="思源黑体 CN Light" panose="020B03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9201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1CB7955C-211A-49DA-9E60-C5C090DA3663}"/>
              </a:ext>
            </a:extLst>
          </p:cNvPr>
          <p:cNvSpPr txBox="1"/>
          <p:nvPr/>
        </p:nvSpPr>
        <p:spPr>
          <a:xfrm>
            <a:off x="211670" y="282709"/>
            <a:ext cx="9232562" cy="50552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1218565">
              <a:lnSpc>
                <a:spcPct val="150000"/>
              </a:lnSpc>
              <a:buClr>
                <a:srgbClr val="1577BA"/>
              </a:buClr>
            </a:pPr>
            <a:r>
              <a:rPr lang="en-US" altLang="zh-CN" sz="2000" dirty="0">
                <a:solidFill>
                  <a:schemeClr val="tx2"/>
                </a:solidFill>
                <a:latin typeface="思源黑体 CN Light"/>
                <a:ea typeface="微软雅黑" panose="020B0503020204020204" pitchFamily="34" charset="-122"/>
              </a:rPr>
              <a:t>  </a:t>
            </a:r>
            <a:r>
              <a:rPr lang="en-US" altLang="zh-CN" sz="2000" dirty="0">
                <a:solidFill>
                  <a:schemeClr val="tx2"/>
                </a:solidFill>
                <a:latin typeface="思源黑体 CN Light"/>
                <a:ea typeface="思源黑体 CN Normal" panose="020B0400000000000000" pitchFamily="34" charset="-122"/>
              </a:rPr>
              <a:t> </a:t>
            </a:r>
            <a:r>
              <a:rPr lang="zh-CN" altLang="en-US" sz="2000" dirty="0">
                <a:solidFill>
                  <a:schemeClr val="tx2"/>
                </a:solidFill>
                <a:latin typeface="思源黑体 CN Light"/>
                <a:ea typeface="思源黑体 CN Normal" panose="020B0400000000000000" pitchFamily="34" charset="-122"/>
              </a:rPr>
              <a:t>理一下逻辑</a:t>
            </a:r>
            <a:endParaRPr lang="en-US" altLang="zh-CN" sz="2000" dirty="0">
              <a:solidFill>
                <a:schemeClr val="tx2"/>
              </a:solidFill>
              <a:latin typeface="思源黑体 CN Light"/>
              <a:ea typeface="思源黑体 CN Normal" panose="020B0400000000000000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99092B-2D24-4748-AB97-29DC91035A43}"/>
              </a:ext>
            </a:extLst>
          </p:cNvPr>
          <p:cNvSpPr/>
          <p:nvPr/>
        </p:nvSpPr>
        <p:spPr>
          <a:xfrm>
            <a:off x="211670" y="344501"/>
            <a:ext cx="170396" cy="447304"/>
          </a:xfrm>
          <a:prstGeom prst="rect">
            <a:avLst/>
          </a:prstGeom>
          <a:solidFill>
            <a:srgbClr val="9AD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">
            <a:extLst>
              <a:ext uri="{FF2B5EF4-FFF2-40B4-BE49-F238E27FC236}">
                <a16:creationId xmlns:a16="http://schemas.microsoft.com/office/drawing/2014/main" id="{735603CA-BC4D-4950-965F-18197EF53D00}"/>
              </a:ext>
            </a:extLst>
          </p:cNvPr>
          <p:cNvSpPr/>
          <p:nvPr/>
        </p:nvSpPr>
        <p:spPr>
          <a:xfrm>
            <a:off x="211670" y="890345"/>
            <a:ext cx="11302997" cy="38171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67466" tIns="67466" rIns="67466" bIns="67466" anchor="ctr"/>
          <a:lstStyle/>
          <a:p>
            <a:pPr algn="just">
              <a:defRPr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BA467F-D9EE-4A7F-92BD-6FE5F026D757}"/>
              </a:ext>
            </a:extLst>
          </p:cNvPr>
          <p:cNvSpPr txBox="1"/>
          <p:nvPr/>
        </p:nvSpPr>
        <p:spPr>
          <a:xfrm>
            <a:off x="296868" y="899817"/>
            <a:ext cx="10820397" cy="1895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1.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按文档类型读取文档为普通字符串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2.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分割内容，切割成语义连贯的小段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3.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向量一条龙，转向量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储存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日后查找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1938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1CB7955C-211A-49DA-9E60-C5C090DA3663}"/>
              </a:ext>
            </a:extLst>
          </p:cNvPr>
          <p:cNvSpPr txBox="1"/>
          <p:nvPr/>
        </p:nvSpPr>
        <p:spPr>
          <a:xfrm>
            <a:off x="211670" y="282709"/>
            <a:ext cx="9232562" cy="50552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1218565">
              <a:lnSpc>
                <a:spcPct val="150000"/>
              </a:lnSpc>
              <a:buClr>
                <a:srgbClr val="1577BA"/>
              </a:buClr>
            </a:pPr>
            <a:r>
              <a:rPr lang="en-US" altLang="zh-CN" sz="2000" dirty="0">
                <a:solidFill>
                  <a:schemeClr val="tx2"/>
                </a:solidFill>
                <a:latin typeface="思源黑体 CN Light"/>
                <a:ea typeface="微软雅黑" panose="020B0503020204020204" pitchFamily="34" charset="-122"/>
              </a:rPr>
              <a:t>  </a:t>
            </a:r>
            <a:r>
              <a:rPr lang="en-US" altLang="zh-CN" sz="2000" dirty="0">
                <a:solidFill>
                  <a:schemeClr val="tx2"/>
                </a:solidFill>
                <a:latin typeface="思源黑体 CN Light"/>
                <a:ea typeface="思源黑体 CN Normal" panose="020B0400000000000000" pitchFamily="34" charset="-122"/>
              </a:rPr>
              <a:t> </a:t>
            </a:r>
            <a:r>
              <a:rPr lang="zh-CN" altLang="en-US" sz="2000" dirty="0">
                <a:solidFill>
                  <a:schemeClr val="tx2"/>
                </a:solidFill>
                <a:ea typeface="思源黑体 CN Normal" panose="020B0400000000000000" pitchFamily="34" charset="-122"/>
              </a:rPr>
              <a:t>如果是之前手写怎么读文档</a:t>
            </a:r>
            <a:endParaRPr lang="en-US" altLang="zh-CN" sz="2000" dirty="0">
              <a:solidFill>
                <a:schemeClr val="tx2"/>
              </a:solidFill>
              <a:ea typeface="思源黑体 CN Normal" panose="020B0400000000000000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99092B-2D24-4748-AB97-29DC91035A43}"/>
              </a:ext>
            </a:extLst>
          </p:cNvPr>
          <p:cNvSpPr/>
          <p:nvPr/>
        </p:nvSpPr>
        <p:spPr>
          <a:xfrm>
            <a:off x="211670" y="344501"/>
            <a:ext cx="170396" cy="447304"/>
          </a:xfrm>
          <a:prstGeom prst="rect">
            <a:avLst/>
          </a:prstGeom>
          <a:solidFill>
            <a:srgbClr val="9AD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">
            <a:extLst>
              <a:ext uri="{FF2B5EF4-FFF2-40B4-BE49-F238E27FC236}">
                <a16:creationId xmlns:a16="http://schemas.microsoft.com/office/drawing/2014/main" id="{735603CA-BC4D-4950-965F-18197EF53D00}"/>
              </a:ext>
            </a:extLst>
          </p:cNvPr>
          <p:cNvSpPr/>
          <p:nvPr/>
        </p:nvSpPr>
        <p:spPr>
          <a:xfrm>
            <a:off x="211670" y="890344"/>
            <a:ext cx="11302997" cy="462145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67466" tIns="67466" rIns="67466" bIns="67466" anchor="ctr"/>
          <a:lstStyle/>
          <a:p>
            <a:pPr algn="just">
              <a:defRPr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BA467F-D9EE-4A7F-92BD-6FE5F026D757}"/>
              </a:ext>
            </a:extLst>
          </p:cNvPr>
          <p:cNvSpPr txBox="1"/>
          <p:nvPr/>
        </p:nvSpPr>
        <p:spPr>
          <a:xfrm>
            <a:off x="296868" y="899817"/>
            <a:ext cx="10820397" cy="3789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自己手写，我们就要用不同的库来做这个事。等于不管什么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的，先做成读取对应格式文档的内容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如果是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md,txt,json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直接读内容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excel =&gt; xlsx</a:t>
            </a: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word =&gt;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mamonth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等等。。。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40895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1CB7955C-211A-49DA-9E60-C5C090DA3663}"/>
              </a:ext>
            </a:extLst>
          </p:cNvPr>
          <p:cNvSpPr txBox="1"/>
          <p:nvPr/>
        </p:nvSpPr>
        <p:spPr>
          <a:xfrm>
            <a:off x="211670" y="282709"/>
            <a:ext cx="9232562" cy="50552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1218565">
              <a:lnSpc>
                <a:spcPct val="150000"/>
              </a:lnSpc>
              <a:buClr>
                <a:srgbClr val="1577BA"/>
              </a:buClr>
            </a:pPr>
            <a:r>
              <a:rPr lang="en-US" altLang="zh-CN" sz="2000" dirty="0">
                <a:solidFill>
                  <a:schemeClr val="tx2"/>
                </a:solidFill>
                <a:latin typeface="思源黑体 CN Light"/>
                <a:ea typeface="微软雅黑" panose="020B0503020204020204" pitchFamily="34" charset="-122"/>
              </a:rPr>
              <a:t>  </a:t>
            </a:r>
            <a:r>
              <a:rPr lang="en-US" altLang="zh-CN" sz="2000" dirty="0">
                <a:solidFill>
                  <a:schemeClr val="tx2"/>
                </a:solidFill>
                <a:latin typeface="思源黑体 CN Light"/>
                <a:ea typeface="思源黑体 CN Normal" panose="020B0400000000000000" pitchFamily="34" charset="-122"/>
              </a:rPr>
              <a:t> </a:t>
            </a:r>
            <a:r>
              <a:rPr lang="zh-CN" altLang="en-US" sz="2000" dirty="0">
                <a:solidFill>
                  <a:schemeClr val="tx2"/>
                </a:solidFill>
                <a:latin typeface="思源黑体 CN Light"/>
                <a:ea typeface="思源黑体 CN Normal" panose="020B0400000000000000" pitchFamily="34" charset="-122"/>
              </a:rPr>
              <a:t>读取文档</a:t>
            </a:r>
            <a:endParaRPr lang="en-US" altLang="zh-CN" sz="2000" dirty="0">
              <a:solidFill>
                <a:schemeClr val="tx2"/>
              </a:solidFill>
              <a:latin typeface="思源黑体 CN Light"/>
              <a:ea typeface="思源黑体 CN Normal" panose="020B0400000000000000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99092B-2D24-4748-AB97-29DC91035A43}"/>
              </a:ext>
            </a:extLst>
          </p:cNvPr>
          <p:cNvSpPr/>
          <p:nvPr/>
        </p:nvSpPr>
        <p:spPr>
          <a:xfrm>
            <a:off x="211670" y="344501"/>
            <a:ext cx="170396" cy="447304"/>
          </a:xfrm>
          <a:prstGeom prst="rect">
            <a:avLst/>
          </a:prstGeom>
          <a:solidFill>
            <a:srgbClr val="9AD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">
            <a:extLst>
              <a:ext uri="{FF2B5EF4-FFF2-40B4-BE49-F238E27FC236}">
                <a16:creationId xmlns:a16="http://schemas.microsoft.com/office/drawing/2014/main" id="{735603CA-BC4D-4950-965F-18197EF53D00}"/>
              </a:ext>
            </a:extLst>
          </p:cNvPr>
          <p:cNvSpPr/>
          <p:nvPr/>
        </p:nvSpPr>
        <p:spPr>
          <a:xfrm>
            <a:off x="211670" y="890345"/>
            <a:ext cx="11302997" cy="534958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67466" tIns="67466" rIns="67466" bIns="67466" anchor="ctr"/>
          <a:lstStyle/>
          <a:p>
            <a:pPr algn="just">
              <a:defRPr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BA467F-D9EE-4A7F-92BD-6FE5F026D757}"/>
              </a:ext>
            </a:extLst>
          </p:cNvPr>
          <p:cNvSpPr txBox="1"/>
          <p:nvPr/>
        </p:nvSpPr>
        <p:spPr>
          <a:xfrm>
            <a:off x="296868" y="899817"/>
            <a:ext cx="10820397" cy="5681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langchain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/community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社区包里各种加载文档的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loader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（这个真的好用，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openai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手写也可以用这一套）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比如：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DocxLoader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-docx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文件解析（背后是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mammoth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UnstructuredExcelLoader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-excel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文件解析（背后是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xlsx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PPTXLoader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-ppt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文件解析 （背后是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officeparser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PDFLoader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-pdf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文件解析（背后是传统的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pdf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读取库，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pdf-parse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但是这些包都是包装类，他背后还是用的其他库去读的文件。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所以其实你想的话，你可以不用他们，自己直接用库去读也一样。只不过他包了一层，我们用的方便点，就和我们前面的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LanceDB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包装一样。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7421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1CB7955C-211A-49DA-9E60-C5C090DA3663}"/>
              </a:ext>
            </a:extLst>
          </p:cNvPr>
          <p:cNvSpPr txBox="1"/>
          <p:nvPr/>
        </p:nvSpPr>
        <p:spPr>
          <a:xfrm>
            <a:off x="211670" y="282709"/>
            <a:ext cx="9232562" cy="50552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1218565">
              <a:lnSpc>
                <a:spcPct val="150000"/>
              </a:lnSpc>
              <a:buClr>
                <a:srgbClr val="1577BA"/>
              </a:buClr>
            </a:pPr>
            <a:r>
              <a:rPr lang="en-US" altLang="zh-CN" sz="2000" dirty="0">
                <a:solidFill>
                  <a:schemeClr val="tx2"/>
                </a:solidFill>
                <a:latin typeface="思源黑体 CN Light"/>
                <a:ea typeface="微软雅黑" panose="020B0503020204020204" pitchFamily="34" charset="-122"/>
              </a:rPr>
              <a:t>  </a:t>
            </a:r>
            <a:r>
              <a:rPr lang="en-US" altLang="zh-CN" sz="2000" dirty="0">
                <a:solidFill>
                  <a:schemeClr val="tx2"/>
                </a:solidFill>
                <a:latin typeface="思源黑体 CN Light"/>
                <a:ea typeface="思源黑体 CN Normal" panose="020B0400000000000000" pitchFamily="34" charset="-122"/>
              </a:rPr>
              <a:t> </a:t>
            </a:r>
            <a:r>
              <a:rPr lang="zh-CN" altLang="en-US" sz="2000" dirty="0">
                <a:solidFill>
                  <a:schemeClr val="tx2"/>
                </a:solidFill>
                <a:latin typeface="思源黑体 CN Light"/>
                <a:ea typeface="思源黑体 CN Normal" panose="020B0400000000000000" pitchFamily="34" charset="-122"/>
              </a:rPr>
              <a:t>文档切割</a:t>
            </a:r>
            <a:endParaRPr lang="en-US" altLang="zh-CN" sz="2000" dirty="0">
              <a:solidFill>
                <a:schemeClr val="tx2"/>
              </a:solidFill>
              <a:latin typeface="思源黑体 CN Light"/>
              <a:ea typeface="思源黑体 CN Normal" panose="020B0400000000000000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99092B-2D24-4748-AB97-29DC91035A43}"/>
              </a:ext>
            </a:extLst>
          </p:cNvPr>
          <p:cNvSpPr/>
          <p:nvPr/>
        </p:nvSpPr>
        <p:spPr>
          <a:xfrm>
            <a:off x="211670" y="344501"/>
            <a:ext cx="170396" cy="447304"/>
          </a:xfrm>
          <a:prstGeom prst="rect">
            <a:avLst/>
          </a:prstGeom>
          <a:solidFill>
            <a:srgbClr val="9AD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">
            <a:extLst>
              <a:ext uri="{FF2B5EF4-FFF2-40B4-BE49-F238E27FC236}">
                <a16:creationId xmlns:a16="http://schemas.microsoft.com/office/drawing/2014/main" id="{735603CA-BC4D-4950-965F-18197EF53D00}"/>
              </a:ext>
            </a:extLst>
          </p:cNvPr>
          <p:cNvSpPr/>
          <p:nvPr/>
        </p:nvSpPr>
        <p:spPr>
          <a:xfrm>
            <a:off x="211670" y="890345"/>
            <a:ext cx="11302997" cy="170045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67466" tIns="67466" rIns="67466" bIns="67466" anchor="ctr"/>
          <a:lstStyle/>
          <a:p>
            <a:pPr algn="just">
              <a:defRPr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BA467F-D9EE-4A7F-92BD-6FE5F026D757}"/>
              </a:ext>
            </a:extLst>
          </p:cNvPr>
          <p:cNvSpPr txBox="1"/>
          <p:nvPr/>
        </p:nvSpPr>
        <p:spPr>
          <a:xfrm>
            <a:off x="296868" y="899817"/>
            <a:ext cx="10820397" cy="1203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文档切割，我们之前用过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langchain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text_splitter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里自带的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RecursiveCharacterTextSplitter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自然我们继续用它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9502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1CB7955C-211A-49DA-9E60-C5C090DA3663}"/>
              </a:ext>
            </a:extLst>
          </p:cNvPr>
          <p:cNvSpPr txBox="1"/>
          <p:nvPr/>
        </p:nvSpPr>
        <p:spPr>
          <a:xfrm>
            <a:off x="211670" y="282709"/>
            <a:ext cx="9232562" cy="50552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1218565">
              <a:lnSpc>
                <a:spcPct val="150000"/>
              </a:lnSpc>
              <a:buClr>
                <a:srgbClr val="1577BA"/>
              </a:buClr>
            </a:pPr>
            <a:r>
              <a:rPr lang="en-US" altLang="zh-CN" sz="2000" dirty="0">
                <a:solidFill>
                  <a:schemeClr val="tx2"/>
                </a:solidFill>
                <a:latin typeface="思源黑体 CN Light"/>
                <a:ea typeface="微软雅黑" panose="020B0503020204020204" pitchFamily="34" charset="-122"/>
              </a:rPr>
              <a:t>  </a:t>
            </a:r>
            <a:r>
              <a:rPr lang="en-US" altLang="zh-CN" sz="2000" dirty="0">
                <a:solidFill>
                  <a:schemeClr val="tx2"/>
                </a:solidFill>
                <a:latin typeface="思源黑体 CN Light"/>
                <a:ea typeface="思源黑体 CN Normal" panose="020B0400000000000000" pitchFamily="34" charset="-122"/>
              </a:rPr>
              <a:t> </a:t>
            </a:r>
            <a:r>
              <a:rPr lang="zh-CN" altLang="en-US" sz="2000" dirty="0">
                <a:solidFill>
                  <a:schemeClr val="tx2"/>
                </a:solidFill>
                <a:latin typeface="思源黑体 CN Light"/>
                <a:ea typeface="思源黑体 CN Normal" panose="020B0400000000000000" pitchFamily="34" charset="-122"/>
              </a:rPr>
              <a:t>拿到文档切割结果后</a:t>
            </a:r>
            <a:endParaRPr lang="en-US" altLang="zh-CN" sz="2000" dirty="0">
              <a:solidFill>
                <a:schemeClr val="tx2"/>
              </a:solidFill>
              <a:latin typeface="思源黑体 CN Light"/>
              <a:ea typeface="思源黑体 CN Normal" panose="020B0400000000000000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99092B-2D24-4748-AB97-29DC91035A43}"/>
              </a:ext>
            </a:extLst>
          </p:cNvPr>
          <p:cNvSpPr/>
          <p:nvPr/>
        </p:nvSpPr>
        <p:spPr>
          <a:xfrm>
            <a:off x="211670" y="344501"/>
            <a:ext cx="170396" cy="447304"/>
          </a:xfrm>
          <a:prstGeom prst="rect">
            <a:avLst/>
          </a:prstGeom>
          <a:solidFill>
            <a:srgbClr val="9AD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">
            <a:extLst>
              <a:ext uri="{FF2B5EF4-FFF2-40B4-BE49-F238E27FC236}">
                <a16:creationId xmlns:a16="http://schemas.microsoft.com/office/drawing/2014/main" id="{735603CA-BC4D-4950-965F-18197EF53D00}"/>
              </a:ext>
            </a:extLst>
          </p:cNvPr>
          <p:cNvSpPr/>
          <p:nvPr/>
        </p:nvSpPr>
        <p:spPr>
          <a:xfrm>
            <a:off x="211670" y="1584612"/>
            <a:ext cx="11302997" cy="170045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67466" tIns="67466" rIns="67466" bIns="67466" anchor="ctr"/>
          <a:lstStyle/>
          <a:p>
            <a:pPr algn="just">
              <a:defRPr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BA467F-D9EE-4A7F-92BD-6FE5F026D757}"/>
              </a:ext>
            </a:extLst>
          </p:cNvPr>
          <p:cNvSpPr txBox="1"/>
          <p:nvPr/>
        </p:nvSpPr>
        <p:spPr>
          <a:xfrm>
            <a:off x="296868" y="1594084"/>
            <a:ext cx="10820397" cy="1526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接下来的向量化，储存就是很经典的路径了。我就不再赘述了。只给出一个建议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不建议一个文档一个表（或者说一个文件），建议把文档合并起来，一起存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。这样查找的时候不至于错漏文档。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毕竟你查找的时候是要指定具体表的，如果你一个文档一个表，你怎么知道用户的问题该是哪个文档。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4271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7215</TotalTime>
  <Words>360</Words>
  <Application>Microsoft Office PowerPoint</Application>
  <PresentationFormat>宽屏</PresentationFormat>
  <Paragraphs>40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Adobe 仿宋 Std R</vt:lpstr>
      <vt:lpstr>Helvetica Neue Medium</vt:lpstr>
      <vt:lpstr>等线</vt:lpstr>
      <vt:lpstr>等线 Light</vt:lpstr>
      <vt:lpstr>思源黑体 CN Light</vt:lpstr>
      <vt:lpstr>思源黑体 CN Normal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2012dnd.com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2012dnd.com</dc:creator>
  <cp:lastModifiedBy>Administrator</cp:lastModifiedBy>
  <cp:revision>816</cp:revision>
  <dcterms:created xsi:type="dcterms:W3CDTF">2022-03-28T09:24:54Z</dcterms:created>
  <dcterms:modified xsi:type="dcterms:W3CDTF">2026-04-16T14:03:38Z</dcterms:modified>
</cp:coreProperties>
</file>